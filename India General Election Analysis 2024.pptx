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68" r:id="rId10"/>
    <p:sldId id="262" r:id="rId11"/>
    <p:sldId id="273" r:id="rId12"/>
    <p:sldId id="275" r:id="rId13"/>
    <p:sldId id="276" r:id="rId14"/>
    <p:sldId id="277" r:id="rId15"/>
    <p:sldId id="278" r:id="rId16"/>
    <p:sldId id="279" r:id="rId17"/>
    <p:sldId id="280" r:id="rId18"/>
    <p:sldId id="287" r:id="rId19"/>
    <p:sldId id="289" r:id="rId20"/>
    <p:sldId id="290" r:id="rId21"/>
    <p:sldId id="291" r:id="rId22"/>
    <p:sldId id="294" r:id="rId23"/>
    <p:sldId id="295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C5B953E-2910-4596-962A-55E653381F89}">
          <p14:sldIdLst>
            <p14:sldId id="256"/>
            <p14:sldId id="257"/>
            <p14:sldId id="258"/>
            <p14:sldId id="259"/>
            <p14:sldId id="269"/>
            <p14:sldId id="270"/>
            <p14:sldId id="271"/>
            <p14:sldId id="272"/>
            <p14:sldId id="268"/>
            <p14:sldId id="262"/>
            <p14:sldId id="273"/>
            <p14:sldId id="275"/>
            <p14:sldId id="276"/>
            <p14:sldId id="277"/>
            <p14:sldId id="278"/>
            <p14:sldId id="279"/>
            <p14:sldId id="280"/>
            <p14:sldId id="287"/>
            <p14:sldId id="289"/>
            <p14:sldId id="290"/>
            <p14:sldId id="291"/>
            <p14:sldId id="294"/>
            <p14:sldId id="29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20B4F5-ECDC-447A-ADA1-8CD5291391DF}" v="3" dt="2026-06-07T19:06:28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0A05-B79D-905F-A908-0325493AD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F9888-BDED-030C-A304-F47418FF3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A3BFD-4A8F-234C-66B8-73C6E96D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2815-0C6C-4780-BE07-57CF2EE6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EE93-C34F-92CF-8257-98F53581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0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F77F7-5586-E920-8A53-7EC09508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CA8E0-3AA1-9994-56CF-1BC18A289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F0DC-BDDA-C652-8CEE-A0CB50423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5FE03-C632-5BCC-5034-9F8E4F52F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D3A6F-1872-055D-0BBE-40C3BB2E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16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2E328-81D4-BD86-9880-E15810757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09690-306E-57ED-8C48-F53E0EBDC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10FE6-976C-E598-0EA3-EB727FA39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CAA5C-4CED-A62A-CC81-468D765ED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750B8-C7E6-D8BD-C994-CDFA5025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5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AF23-3A13-6181-4F70-6728A331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1A53-5903-C266-F523-537B62A40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1ED7A-856F-2CCA-9E67-3626EC659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EE99F-013E-3589-CA39-E5C1AB12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8906B-E7A3-0DB8-961F-0EA7F96E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845FF-D9D1-3DCA-0BBE-07C03D8D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93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6045-D625-BCE0-3B4E-CD9AAF0C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D1368-549A-CBCF-E7FA-E4FB7C9DE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49CA8-2717-CEF1-2B3E-7AE49C1A3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D16A3-0DC0-B372-F6ED-6E9FA1C01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EA148-BBE8-2EA0-2316-A146B7996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00543-67F1-C6BF-4DFE-165F3068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D7D6-2725-8381-3A49-E3219EE3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67142-A5BC-8395-8C98-1EAED533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44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82D-3A75-848D-C7B2-106D5C0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40F94-82E8-77B7-9A51-83F153B7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34AEC4-D77D-B38B-4BAF-5AE01872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7A2B8-F483-D6CA-6168-502FA3B8D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3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1CDE7-F4B6-859A-D26D-B535D643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7994B-1B63-C0A7-CFD4-ADE3737AF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DA6B1-3B1C-45C2-FD85-3FD02571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508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26EF-8F85-CDE9-38F1-421B2CF0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7DF68-50BA-A67C-00D5-7A1667219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6DA4D-4DF1-7A9A-EF58-A1F8B911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FA3E2-4568-1B50-6585-4BDBAED41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F8F37-A2A9-C71C-BCC9-4AE345E9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2B2C1-A68A-AB75-837A-8C94950C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15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B986-1AEB-E14E-87B9-0F5BF2FB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D4403-A200-900D-46A0-37A95196A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3D399-B222-6B3D-C327-8CCB6041C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5A269-1207-E586-288F-D5D6D021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F2E01-580B-C251-2E54-3CC9A770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13332-6681-7C0E-956B-3BBFC695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4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7250-BC70-7595-8A30-56C289BD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3718C-8D55-20AB-3B58-E67EC351E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1D155-F351-D026-AE53-828F505A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DBDA7-0EA3-CF65-B4C9-470A08B42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EC414-A3FE-1668-D8BC-60F1F37C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03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E3856-DC1C-2C83-79A9-2A139AF6A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65CB7-13E8-80FD-56C9-87AA6E7A0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12730-84F6-CB53-6072-BD8BEBF99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955ED-2675-1F67-DF7D-EB7AD364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2D2D-7D4C-74B1-631D-F7152C55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128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C1C0C-22B2-8486-BE24-36243B27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9AC38-F928-FE01-CD2E-A953671B8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339E1-60F9-4E71-1A6E-B305F9460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FF2E0-27A1-494D-A33E-D95A5593A909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8082B-024B-CF66-027A-089E8D522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DF9B7-808A-93A8-1119-07542699D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94128-20EA-4B47-A935-2786DA68FF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51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bstract background of luminous dots">
            <a:extLst>
              <a:ext uri="{FF2B5EF4-FFF2-40B4-BE49-F238E27FC236}">
                <a16:creationId xmlns:a16="http://schemas.microsoft.com/office/drawing/2014/main" id="{94365D15-392D-2EC2-2289-9E06C49B1B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4637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8AA1BF-20BD-7598-0CCD-6686A9BB35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3032567" y="591897"/>
            <a:ext cx="5602147" cy="831790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00B0F0"/>
                </a:solidFill>
                <a:latin typeface="Arial Black" panose="020B0A04020102020204" pitchFamily="34" charset="0"/>
              </a:rPr>
              <a:t>SQL PROJECT</a:t>
            </a:r>
            <a:endParaRPr lang="en-IN" sz="54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05BAC-D032-C520-46B6-D4715B08A8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356852" y="2295333"/>
            <a:ext cx="9144000" cy="2890684"/>
          </a:xfrm>
        </p:spPr>
        <p:txBody>
          <a:bodyPr>
            <a:normAutofit lnSpcReduction="10000"/>
          </a:bodyPr>
          <a:lstStyle/>
          <a:p>
            <a:r>
              <a:rPr lang="en-US" sz="7200" b="1" dirty="0">
                <a:solidFill>
                  <a:srgbClr val="FFFF00"/>
                </a:solidFill>
              </a:rPr>
              <a:t>INDIA GENERAL ELECTION ANALYSIS</a:t>
            </a:r>
          </a:p>
          <a:p>
            <a:r>
              <a:rPr lang="en-US" sz="7200" b="1" dirty="0">
                <a:solidFill>
                  <a:srgbClr val="FFFF00"/>
                </a:solidFill>
              </a:rPr>
              <a:t>2024</a:t>
            </a:r>
            <a:endParaRPr lang="en-IN" sz="7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65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bstract background of luminous dots">
            <a:extLst>
              <a:ext uri="{FF2B5EF4-FFF2-40B4-BE49-F238E27FC236}">
                <a16:creationId xmlns:a16="http://schemas.microsoft.com/office/drawing/2014/main" id="{D1AFB3DD-B3D6-D228-4E19-3C677CE075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271"/>
            <a:ext cx="12192000" cy="6891271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3C603DF-2EA1-0A71-CFC6-AD7C99D20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270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FF00"/>
                </a:solidFill>
                <a:latin typeface="Algerian" panose="04020705040A02060702" pitchFamily="82" charset="0"/>
              </a:rPr>
              <a:t>Project Overview</a:t>
            </a:r>
            <a:endParaRPr lang="en-IN" sz="4800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39643-EF11-DC1F-BC06-657447D59F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368" y="1770927"/>
            <a:ext cx="1164413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This project performs an SQL-based analysis of the India General Election Results 2024 to study constituency-wise, state-wise, and party-wise performance. Using structured queries and relational database techniques, the project identifies voting trends, winning margins, and seat distribution. The analysis highlights the practical application of SQL in handling real-world datasets and generating meaningful insights for data-driven decision making.</a:t>
            </a:r>
            <a:endParaRPr lang="en-IN" sz="3200" b="1" dirty="0">
              <a:solidFill>
                <a:schemeClr val="accent4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80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4F81DDAE-C117-EF23-D168-D9825D2BD5A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271"/>
            <a:ext cx="12192000" cy="6891271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09F80E-FFFB-481C-1CB8-FB1DA343EF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966" y="1621383"/>
            <a:ext cx="9045724" cy="473404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23C228-8591-2850-9A8D-3B6E500214E9}"/>
              </a:ext>
            </a:extLst>
          </p:cNvPr>
          <p:cNvSpPr txBox="1">
            <a:spLocks/>
          </p:cNvSpPr>
          <p:nvPr/>
        </p:nvSpPr>
        <p:spPr>
          <a:xfrm flipH="1">
            <a:off x="1731524" y="195481"/>
            <a:ext cx="8520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FF00"/>
                </a:solidFill>
                <a:latin typeface="Arial Black" panose="020B0A04020102020204" pitchFamily="34" charset="0"/>
              </a:rPr>
              <a:t>ER – DIAGRAM</a:t>
            </a:r>
          </a:p>
        </p:txBody>
      </p:sp>
    </p:spTree>
    <p:extLst>
      <p:ext uri="{BB962C8B-B14F-4D97-AF65-F5344CB8AC3E}">
        <p14:creationId xmlns:p14="http://schemas.microsoft.com/office/powerpoint/2010/main" val="278145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A2F3C1A3-8459-CB8D-924B-01201315CE1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8697AFA-92F0-E874-1227-84C6757FA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326510" y="1435"/>
            <a:ext cx="6967961" cy="8270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  <a:latin typeface="Algerian" panose="04020705040A02060702" pitchFamily="82" charset="0"/>
              </a:rPr>
              <a:t>TABLE STRUCTURE</a:t>
            </a:r>
            <a:endParaRPr lang="en-IN" sz="5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8FE43-F1D3-2053-FE6F-00D87016BA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628" y="1108174"/>
            <a:ext cx="4814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1.  </a:t>
            </a:r>
            <a:r>
              <a:rPr lang="en-US" sz="2800" b="1" dirty="0" err="1">
                <a:solidFill>
                  <a:schemeClr val="bg1"/>
                </a:solidFill>
              </a:rPr>
              <a:t>constituencywise_details</a:t>
            </a:r>
            <a:endParaRPr lang="en-IN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FBDCA4-9EB6-6556-D38A-EA83D7AA65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81" y="1942793"/>
            <a:ext cx="4325110" cy="6263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3A52C4-0C56-CAC2-69A1-E374476826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4" y="2853392"/>
            <a:ext cx="5405886" cy="34404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871D57-BA13-74E0-FE67-BB042639DF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10491" y="1951672"/>
            <a:ext cx="623659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This table stores constituency-level election  results including Constituency name, winning candidate, total votes, margin and associated party ID. It helps analyze constituency-wise performance. 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8DE0-01E4-59F1-03E9-B3E8AEC8A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FF47B2AE-5B36-B842-6E9F-52A957DB7E3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B7D4820-7E4F-E0FF-ED6B-B723252BA4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326510" y="1435"/>
            <a:ext cx="6967961" cy="8270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  <a:latin typeface="Algerian" panose="04020705040A02060702" pitchFamily="82" charset="0"/>
              </a:rPr>
              <a:t>TABLE STRUCTURE</a:t>
            </a:r>
            <a:endParaRPr lang="en-IN" sz="5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BC848-A251-80EF-EAB2-EC353BED14C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628" y="1108174"/>
            <a:ext cx="4833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2.  </a:t>
            </a:r>
            <a:r>
              <a:rPr lang="en-US" sz="2800" b="1" dirty="0" err="1">
                <a:solidFill>
                  <a:schemeClr val="bg1"/>
                </a:solidFill>
              </a:rPr>
              <a:t>constituencywise_results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B39DEE-D964-8839-AABF-B7DE600CA1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10491" y="1951672"/>
            <a:ext cx="62365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The </a:t>
            </a:r>
            <a:r>
              <a:rPr lang="en-US" sz="32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constituencywise_results</a:t>
            </a:r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 table captures final election  results at the constituency level. It includes constituency name, winning candidate, total votes, enabling constituency –level performance analysis.</a:t>
            </a:r>
            <a:endParaRPr lang="en-IN" sz="32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A075BB-4985-A3D0-9E00-ADFDE08FE7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16" y="1810659"/>
            <a:ext cx="4833054" cy="525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226693-6D16-8355-5C43-9CAE807852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16" y="2613551"/>
            <a:ext cx="5328063" cy="344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1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E6D7-E858-38F6-6282-0219BEE3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51DB1480-0361-3477-701A-40DC10FA373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21E3C9C-A357-3868-6F79-075BCF1CD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326510" y="1435"/>
            <a:ext cx="6967961" cy="8270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  <a:latin typeface="Algerian" panose="04020705040A02060702" pitchFamily="82" charset="0"/>
              </a:rPr>
              <a:t>TABLE STRUCTURE</a:t>
            </a:r>
            <a:endParaRPr lang="en-IN" sz="5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5C2D5-4514-D0FD-738D-016733829ED7}"/>
              </a:ext>
            </a:extLst>
          </p:cNvPr>
          <p:cNvSpPr txBox="1">
            <a:spLocks/>
          </p:cNvSpPr>
          <p:nvPr/>
        </p:nvSpPr>
        <p:spPr>
          <a:xfrm>
            <a:off x="254628" y="1108174"/>
            <a:ext cx="354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3.  </a:t>
            </a:r>
            <a:r>
              <a:rPr lang="en-US" sz="2800" b="1" dirty="0" err="1">
                <a:solidFill>
                  <a:schemeClr val="bg1"/>
                </a:solidFill>
              </a:rPr>
              <a:t>partywise_results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C108FA-34AB-0F09-9981-5CB4F9D6E6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10491" y="1951672"/>
            <a:ext cx="62365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The </a:t>
            </a:r>
            <a:r>
              <a:rPr lang="en-US" sz="32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partywise_results</a:t>
            </a:r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 table stores political party-level election outcomes . It contains party name, total seats won, and party ID which helps analyze overall party performance in </a:t>
            </a:r>
            <a:r>
              <a:rPr lang="en-US" sz="32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th</a:t>
            </a:r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 election.</a:t>
            </a:r>
            <a:endParaRPr lang="en-IN" sz="32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E31B69-327A-38C3-0965-CA8F2E15F5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28" y="1936676"/>
            <a:ext cx="3857951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8F1A52-3315-DB2D-3D0D-8EF18FDCE3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47" y="2739568"/>
            <a:ext cx="5220197" cy="17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04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11449-BC85-E47A-044E-0257261C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85FC921A-13B8-08B2-D009-38A9B2C6B47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8874806-639C-CC66-CC06-E834E5C5BE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326510" y="1435"/>
            <a:ext cx="6967961" cy="8270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  <a:latin typeface="Algerian" panose="04020705040A02060702" pitchFamily="82" charset="0"/>
              </a:rPr>
              <a:t>TABLE STRUCTURE</a:t>
            </a:r>
            <a:endParaRPr lang="en-IN" sz="5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34EB8-432D-A7E8-885E-D40D15B48C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628" y="1108174"/>
            <a:ext cx="1651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4.  states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0AD4BA-E147-722F-C8A3-CB4533D433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10491" y="1951672"/>
            <a:ext cx="62365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The state table acts as a master reference table storing state IDs and state names. It is used to link and organize election data across different states efficiently.</a:t>
            </a:r>
            <a:endParaRPr lang="en-IN" sz="32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AD19C8-3706-ADA2-0A1F-0CCFBF3CEA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28" y="1853098"/>
            <a:ext cx="3611316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93FC16-FD09-756D-843B-5E3FB6C0F7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28" y="2917600"/>
            <a:ext cx="5024592" cy="164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4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7E4FF-7041-9EF5-A249-C8F8151D7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2E174596-AED1-44BB-49C7-C6D05C8E7A2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96FEE5E-6AA4-66EC-502A-160C6EB4E1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326510" y="1435"/>
            <a:ext cx="6967961" cy="8270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  <a:latin typeface="Algerian" panose="04020705040A02060702" pitchFamily="82" charset="0"/>
              </a:rPr>
              <a:t>TABLE STRUCTURE</a:t>
            </a:r>
            <a:endParaRPr lang="en-IN" sz="5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30755-3395-9122-EAA8-D98A16D124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4628" y="1108174"/>
            <a:ext cx="378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4.  </a:t>
            </a:r>
            <a:r>
              <a:rPr lang="en-US" sz="2800" b="1" dirty="0" err="1">
                <a:solidFill>
                  <a:schemeClr val="bg1"/>
                </a:solidFill>
              </a:rPr>
              <a:t>stateswise_results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0BEF64-73EB-2D3B-42BF-0B75E2A86E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10491" y="1951672"/>
            <a:ext cx="62365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The </a:t>
            </a:r>
            <a:r>
              <a:rPr lang="en-US" sz="3200" b="1" dirty="0" err="1">
                <a:solidFill>
                  <a:schemeClr val="bg1"/>
                </a:solidFill>
                <a:latin typeface="Book Antiqua" panose="02040602050305030304" pitchFamily="18" charset="0"/>
              </a:rPr>
              <a:t>statewise_results</a:t>
            </a:r>
            <a:r>
              <a:rPr lang="en-US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 table contains state-level election information mapped to parliamentary constituencies. It includes leading and trailing candidates, election status, margin, and state ID, helping analyze state-wise election trends.</a:t>
            </a:r>
            <a:endParaRPr lang="en-IN" sz="32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6D322-631A-D4AC-F35D-2652DE94DC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65" y="1795315"/>
            <a:ext cx="4107884" cy="479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76EF87-458D-86D6-FA65-59C12B64F9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65" y="2586531"/>
            <a:ext cx="5549498" cy="36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20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114CA-78E8-2ADE-525A-044089B5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7A2FC571-B7F4-521D-303F-E2350B6632B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6C325D7-C41C-6E68-0D6D-BCBFFDB3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781782" y="115747"/>
            <a:ext cx="6273479" cy="79865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Britannic Bold" panose="020B0903060703020204" pitchFamily="34" charset="0"/>
              </a:rPr>
              <a:t>Analytical considerations</a:t>
            </a:r>
            <a:endParaRPr lang="en-IN" sz="40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0B08E-355D-E05C-183D-148251E615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6770" y="1306598"/>
            <a:ext cx="118293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1. The dataset accurately represents official constituency-wise, state-wise, and party-wise election results for analysis purposes.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2. Total votes are considered as the sum of all valid votes cast within a constituency.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3. Winning candidates are uniquely identified per constituency.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4. Party-wise results reflect finalized seat outcomes.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5. Vote percentages and margins are reliable indicators of electoral competitiveness.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6. State-wise aggregation assumes correct mapping between constituencies and states.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78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A1C7BBA3-B2F0-7243-24CB-5F303E4E49E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271"/>
            <a:ext cx="12192000" cy="689127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87651E-5910-EF2C-54B3-0D67C8379D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86" y="1481560"/>
            <a:ext cx="5918418" cy="61379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BF16A7-7E60-959A-F781-877E6F53B5D1}"/>
              </a:ext>
            </a:extLst>
          </p:cNvPr>
          <p:cNvSpPr txBox="1">
            <a:spLocks/>
          </p:cNvSpPr>
          <p:nvPr/>
        </p:nvSpPr>
        <p:spPr>
          <a:xfrm>
            <a:off x="343486" y="-4447"/>
            <a:ext cx="11543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Foundational Data Exploration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61890-6603-BEF5-C78F-9ECB81610B0E}"/>
              </a:ext>
            </a:extLst>
          </p:cNvPr>
          <p:cNvSpPr txBox="1">
            <a:spLocks/>
          </p:cNvSpPr>
          <p:nvPr/>
        </p:nvSpPr>
        <p:spPr>
          <a:xfrm>
            <a:off x="243069" y="908692"/>
            <a:ext cx="1164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Retrieve constituency name, winning candidate, and total votes for all constituencies.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EC4B31-6DE8-68AE-B420-A57C1E3D6C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86" y="2288630"/>
            <a:ext cx="5409132" cy="42857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63373B-5561-B7EE-4C05-D183373A2FE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42521" y="2095352"/>
            <a:ext cx="32640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query provides a complete overview of constituency-level election outcomes, forming the foundation for further analysis.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76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7550-8C40-D577-30EB-D8113A79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532DA0D0-E149-70E3-91BA-BB285DD84A2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A08CC2-5367-88F2-8BE9-CB63A503E9FB}"/>
              </a:ext>
            </a:extLst>
          </p:cNvPr>
          <p:cNvSpPr txBox="1">
            <a:spLocks/>
          </p:cNvSpPr>
          <p:nvPr/>
        </p:nvSpPr>
        <p:spPr>
          <a:xfrm>
            <a:off x="190984" y="71450"/>
            <a:ext cx="1167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Foundational Data Exploration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CBD38-94CA-1C28-9148-89810BE39D15}"/>
              </a:ext>
            </a:extLst>
          </p:cNvPr>
          <p:cNvSpPr txBox="1">
            <a:spLocks/>
          </p:cNvSpPr>
          <p:nvPr/>
        </p:nvSpPr>
        <p:spPr>
          <a:xfrm>
            <a:off x="190984" y="927214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List all unique political parties that contested the election.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676E0-D39F-F22F-2F3C-982A98550F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query identifies the total number of political parties participating in the election, helping assess political diversity.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0E6459-228F-11FE-1127-EB8B5D906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01" y="1526921"/>
            <a:ext cx="4147099" cy="4001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B1FCB4-5657-B69B-156E-6005A273A5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75" y="2095352"/>
            <a:ext cx="3861593" cy="45832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9E63005-844F-7CA9-44AD-8474889ACE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700" y="2297720"/>
            <a:ext cx="2905304" cy="42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20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AFD17-F07B-2357-E131-035B6441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EF907FEF-9724-E2E3-EEF7-E3EED95D9B5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71EBDE-9508-64EA-F3FB-356999CDD751}"/>
              </a:ext>
            </a:extLst>
          </p:cNvPr>
          <p:cNvSpPr txBox="1">
            <a:spLocks/>
          </p:cNvSpPr>
          <p:nvPr/>
        </p:nvSpPr>
        <p:spPr>
          <a:xfrm>
            <a:off x="147483" y="52558"/>
            <a:ext cx="11818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Foundational Data Exploration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9F3BE5-ED19-64A1-D7AF-F97FC2F27130}"/>
              </a:ext>
            </a:extLst>
          </p:cNvPr>
          <p:cNvSpPr txBox="1">
            <a:spLocks/>
          </p:cNvSpPr>
          <p:nvPr/>
        </p:nvSpPr>
        <p:spPr>
          <a:xfrm>
            <a:off x="236165" y="795450"/>
            <a:ext cx="11503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Constituencies with margin &lt; 50,000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8B67D4-5B51-F621-A7D9-CBD514F1A4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highlights closely contested constituencies where electoral competition was intense.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F1CF9-7FC5-A098-9CCC-48401615BB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47" y="1232017"/>
            <a:ext cx="4290599" cy="573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789EF5-3C47-B473-37DA-2A72347867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8" y="1941650"/>
            <a:ext cx="2141406" cy="48136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043B55-F8F7-2BB9-24FE-64FAE92ED2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133" y="1929276"/>
            <a:ext cx="2484335" cy="48136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612DDF-0019-B9C1-B628-9C46BA8D15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97" y="2398605"/>
            <a:ext cx="2476715" cy="345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61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A74C-96AF-FA53-2184-49EE2E53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E9961DEA-AB30-A6BE-5982-382C2188162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2DB5AD-CB5A-CF00-2207-8C3B9FDF51ED}"/>
              </a:ext>
            </a:extLst>
          </p:cNvPr>
          <p:cNvSpPr txBox="1"/>
          <p:nvPr/>
        </p:nvSpPr>
        <p:spPr>
          <a:xfrm>
            <a:off x="272007" y="41959"/>
            <a:ext cx="11644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Foundational Data Exploration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AFB19-3A8D-FEE8-7D6F-A01B526D57D7}"/>
              </a:ext>
            </a:extLst>
          </p:cNvPr>
          <p:cNvSpPr txBox="1">
            <a:spLocks/>
          </p:cNvSpPr>
          <p:nvPr/>
        </p:nvSpPr>
        <p:spPr>
          <a:xfrm>
            <a:off x="272007" y="809960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Candidates with total votes (descending)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B83A1-8D04-ED5B-48E0-5C56D210CC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reveals top-performing candidates based on vote count, regardless of constituency size.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D485EA-F471-5C5C-C9D8-59844BF44B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46" y="1259261"/>
            <a:ext cx="5527432" cy="7607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C8DBB-A8D9-3DB8-5375-5448F3B488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79" y="2334581"/>
            <a:ext cx="5886248" cy="414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3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94000-7DC4-A28E-89CC-E055AB2C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7D864214-F02B-0945-30C3-D767EC9DE2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B5F3BF-774E-8F22-D8ED-F88773185DCF}"/>
              </a:ext>
            </a:extLst>
          </p:cNvPr>
          <p:cNvSpPr txBox="1">
            <a:spLocks/>
          </p:cNvSpPr>
          <p:nvPr/>
        </p:nvSpPr>
        <p:spPr>
          <a:xfrm>
            <a:off x="277792" y="61623"/>
            <a:ext cx="11658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Performance Measurement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93D8F2-E205-CC82-B53E-90D72FA4375A}"/>
              </a:ext>
            </a:extLst>
          </p:cNvPr>
          <p:cNvSpPr txBox="1">
            <a:spLocks/>
          </p:cNvSpPr>
          <p:nvPr/>
        </p:nvSpPr>
        <p:spPr>
          <a:xfrm>
            <a:off x="277792" y="807996"/>
            <a:ext cx="11658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Total seats won by each party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3482C2-3EF8-2B9C-11AD-72AF5469E2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query identifies the total number of political parties participating in the election, helping assess political diversity.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215033-F2AF-5801-CE45-6B58DFEA8B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1307660"/>
            <a:ext cx="4838218" cy="6193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D81432-E0CB-C1B0-9390-D2D710AE0D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175" y="2183379"/>
            <a:ext cx="4838218" cy="44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89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B517-27D9-5449-BCB9-B612FD6C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4B55CC46-8649-22AE-70F6-E83C479374D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95E39B-4BFC-139E-E44B-F5DDA01461B3}"/>
              </a:ext>
            </a:extLst>
          </p:cNvPr>
          <p:cNvSpPr txBox="1">
            <a:spLocks/>
          </p:cNvSpPr>
          <p:nvPr/>
        </p:nvSpPr>
        <p:spPr>
          <a:xfrm>
            <a:off x="277791" y="41959"/>
            <a:ext cx="11629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Performance Measurement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EDF2DF-0E47-B83D-B7ED-9173FFD19499}"/>
              </a:ext>
            </a:extLst>
          </p:cNvPr>
          <p:cNvSpPr txBox="1">
            <a:spLocks/>
          </p:cNvSpPr>
          <p:nvPr/>
        </p:nvSpPr>
        <p:spPr>
          <a:xfrm>
            <a:off x="277792" y="817828"/>
            <a:ext cx="1162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Average votes per constituency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A6D07C-178B-3241-BB56-7D9DB5139C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helps understand typical voter participation levels across constituencies.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A0F374-3E7E-8429-0976-19D2D7E04E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890" y="1307660"/>
            <a:ext cx="4662021" cy="6193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12EDA4-5972-0963-1FC4-DC3A6BE054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3040" y="2183379"/>
            <a:ext cx="3172488" cy="44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28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762B-CAA8-AC0B-051E-5AE31DE22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0057A89B-4502-B15B-0378-F18E66B63C8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520CE9-34EA-3538-C063-B00E85598D94}"/>
              </a:ext>
            </a:extLst>
          </p:cNvPr>
          <p:cNvSpPr txBox="1">
            <a:spLocks/>
          </p:cNvSpPr>
          <p:nvPr/>
        </p:nvSpPr>
        <p:spPr>
          <a:xfrm>
            <a:off x="390175" y="41959"/>
            <a:ext cx="11388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Performance Measurement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F68406-6EF4-5C9C-88AD-049079DE4174}"/>
              </a:ext>
            </a:extLst>
          </p:cNvPr>
          <p:cNvSpPr txBox="1">
            <a:spLocks/>
          </p:cNvSpPr>
          <p:nvPr/>
        </p:nvSpPr>
        <p:spPr>
          <a:xfrm>
            <a:off x="277793" y="827660"/>
            <a:ext cx="1168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Top 10 parties by total votes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927EB4-39FB-5827-B155-67DA611470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identifies parties with the strongest voter support across all constituencies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2A8A65-E296-A74A-9128-5AA38E53B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527" y="1386804"/>
            <a:ext cx="4838218" cy="6882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2D5A3C-6C31-1BB9-F44D-37977F0B7F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3" y="2183380"/>
            <a:ext cx="4676172" cy="44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42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B5BA-3262-7BE6-80E2-CB3F461B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F03E494F-1F09-61BE-6FF5-879D9F3BB96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644E5E-F1E4-71A6-3DA4-1F4C17097E6D}"/>
              </a:ext>
            </a:extLst>
          </p:cNvPr>
          <p:cNvSpPr txBox="1">
            <a:spLocks/>
          </p:cNvSpPr>
          <p:nvPr/>
        </p:nvSpPr>
        <p:spPr>
          <a:xfrm>
            <a:off x="393290" y="41959"/>
            <a:ext cx="11375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Performance Measurement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26E25-9D68-DF85-6B8D-814E6BFE4728}"/>
              </a:ext>
            </a:extLst>
          </p:cNvPr>
          <p:cNvSpPr txBox="1">
            <a:spLocks/>
          </p:cNvSpPr>
          <p:nvPr/>
        </p:nvSpPr>
        <p:spPr>
          <a:xfrm>
            <a:off x="189303" y="827661"/>
            <a:ext cx="1157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Constituency count per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58A01-4FE7-194B-422D-1308557928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233460" y="2060294"/>
            <a:ext cx="26660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provides a structural view of electoral distribution across states.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3CB807-CEFA-1A74-A58E-4DF3E9DF9E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195" y="1307660"/>
            <a:ext cx="4838218" cy="752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9C7094-4A08-D6BC-7ED6-2DAC6382B0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24" y="2183379"/>
            <a:ext cx="3102014" cy="46326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23A74C-EEC0-9D41-2AD0-0A746D1B5F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062" y="2183379"/>
            <a:ext cx="3124471" cy="4632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A41A9E-5FCF-9A1C-963C-1AB13B0C8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557" y="5416952"/>
            <a:ext cx="3360711" cy="137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67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CE382-5596-29EE-5965-C983E11F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C22C1BF1-98DA-EE16-7902-ADA27EFDA9C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FE57B8-7D4B-8F2E-E3E3-D920F7AE1530}"/>
              </a:ext>
            </a:extLst>
          </p:cNvPr>
          <p:cNvSpPr txBox="1">
            <a:spLocks/>
          </p:cNvSpPr>
          <p:nvPr/>
        </p:nvSpPr>
        <p:spPr>
          <a:xfrm>
            <a:off x="277793" y="66085"/>
            <a:ext cx="11501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Comparative &amp; Conditional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ADCAB-DF3D-81CA-2182-C77860131503}"/>
              </a:ext>
            </a:extLst>
          </p:cNvPr>
          <p:cNvSpPr txBox="1">
            <a:spLocks/>
          </p:cNvSpPr>
          <p:nvPr/>
        </p:nvSpPr>
        <p:spPr>
          <a:xfrm>
            <a:off x="258128" y="817828"/>
            <a:ext cx="1150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Constituencies above average votes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9F3D0-5C67-5FD3-CF12-0F8587604A6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highlights high-engagement constituencies with above-average voter turnout.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026A89-2F65-47C6-50A5-15A4D66D3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1293854"/>
            <a:ext cx="5058137" cy="778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333A6B-8618-EC29-9D29-FB01EDFE25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2183380"/>
            <a:ext cx="2326513" cy="44952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00079-2A3A-68AD-85D9-D37458C6A4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860" y="2183380"/>
            <a:ext cx="2229226" cy="4495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5AAF1B-5109-B0C0-0712-9A3E8C15C2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642" y="2183379"/>
            <a:ext cx="2034716" cy="449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84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7823F-D012-7032-C5A3-2FE785A6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86A94F8A-69EA-FA9F-652F-AB8360D89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49BFAD-A6B8-AAB3-1D5C-0834E401458B}"/>
              </a:ext>
            </a:extLst>
          </p:cNvPr>
          <p:cNvSpPr txBox="1">
            <a:spLocks/>
          </p:cNvSpPr>
          <p:nvPr/>
        </p:nvSpPr>
        <p:spPr>
          <a:xfrm>
            <a:off x="277793" y="66085"/>
            <a:ext cx="11432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Comparative &amp; Conditional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89D0C-3C23-6A34-D5AA-567AA3144E9F}"/>
              </a:ext>
            </a:extLst>
          </p:cNvPr>
          <p:cNvSpPr txBox="1">
            <a:spLocks/>
          </p:cNvSpPr>
          <p:nvPr/>
        </p:nvSpPr>
        <p:spPr>
          <a:xfrm>
            <a:off x="277792" y="876820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Constituency competition classification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46F7D3-D8D4-78F0-9013-909EF0FAF2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categorizes constituencies based on winning margins to assess electoral competitiveness.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995633-D268-BEBE-7B96-B565AA1AF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1402008"/>
            <a:ext cx="6007261" cy="14504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E92AA5-CCC9-081D-F572-01609FEC8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3" y="2986269"/>
            <a:ext cx="5451676" cy="37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24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CD40-EB74-DA32-9C07-182DE4DCA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0393AF84-2960-4D53-FE6D-33847364E29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980420-FAC4-489E-7F87-5C71874752CE}"/>
              </a:ext>
            </a:extLst>
          </p:cNvPr>
          <p:cNvSpPr txBox="1">
            <a:spLocks/>
          </p:cNvSpPr>
          <p:nvPr/>
        </p:nvSpPr>
        <p:spPr>
          <a:xfrm>
            <a:off x="277792" y="66085"/>
            <a:ext cx="11442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Comparative &amp; Conditional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50CC-348E-478B-3C29-28589BB33D0F}"/>
              </a:ext>
            </a:extLst>
          </p:cNvPr>
          <p:cNvSpPr txBox="1">
            <a:spLocks/>
          </p:cNvSpPr>
          <p:nvPr/>
        </p:nvSpPr>
        <p:spPr>
          <a:xfrm>
            <a:off x="277792" y="847324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High vote share candidates who lost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C4789-5FB8-9F1D-29B1-CE9D9A6408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identifies strong candidates who narrowly lost despite significant voter support.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49A4D8-E7FD-E6BF-DF9F-083E9EE76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1343014"/>
            <a:ext cx="6030410" cy="12976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E77E0C-53E5-C5FE-A5B7-0C6A4B1A5A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2766349"/>
            <a:ext cx="7118431" cy="385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2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FDC1-CD52-1D78-0786-A56716BB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B961ACD2-7382-83FA-FA79-6C703B55603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4E4513-C8E6-60DA-5AAF-0BD2753F2337}"/>
              </a:ext>
            </a:extLst>
          </p:cNvPr>
          <p:cNvSpPr txBox="1">
            <a:spLocks/>
          </p:cNvSpPr>
          <p:nvPr/>
        </p:nvSpPr>
        <p:spPr>
          <a:xfrm>
            <a:off x="277793" y="66085"/>
            <a:ext cx="11570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Multi-Dimensional Election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1BB2F-62E3-F525-F501-4874C75D0A62}"/>
              </a:ext>
            </a:extLst>
          </p:cNvPr>
          <p:cNvSpPr txBox="1">
            <a:spLocks/>
          </p:cNvSpPr>
          <p:nvPr/>
        </p:nvSpPr>
        <p:spPr>
          <a:xfrm>
            <a:off x="208968" y="906316"/>
            <a:ext cx="11638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State-wise seats won by each party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A76079-16BA-9AF8-B4A1-3C8B5CA4E3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shows party-wise dominance and competition at the state level.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A94E8-D9A9-643F-158E-16F2A4187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948" y="1362678"/>
            <a:ext cx="6910085" cy="10933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804819-2644-D7F9-9537-FB5990F112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2534856"/>
            <a:ext cx="6674736" cy="41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72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69BC-C6EF-FAF8-4821-3CFD28DD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0FB8C145-AEFB-82E6-6045-8528ED682A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7FE8E6-8717-9C6C-B2AF-9057E355E834}"/>
              </a:ext>
            </a:extLst>
          </p:cNvPr>
          <p:cNvSpPr txBox="1">
            <a:spLocks/>
          </p:cNvSpPr>
          <p:nvPr/>
        </p:nvSpPr>
        <p:spPr>
          <a:xfrm>
            <a:off x="277791" y="66085"/>
            <a:ext cx="11570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Multi-Dimensional Election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61382-1CFC-40F4-8539-523D33F2C284}"/>
              </a:ext>
            </a:extLst>
          </p:cNvPr>
          <p:cNvSpPr txBox="1">
            <a:spLocks/>
          </p:cNvSpPr>
          <p:nvPr/>
        </p:nvSpPr>
        <p:spPr>
          <a:xfrm>
            <a:off x="248296" y="817828"/>
            <a:ext cx="1157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Leading party per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C1579-47F3-B563-25DE-DB0ABB8147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</a:t>
            </a:r>
            <a:r>
              <a:rPr lang="en-US" sz="2400" b="1" dirty="0" err="1">
                <a:solidFill>
                  <a:schemeClr val="bg1"/>
                </a:solidFill>
              </a:rPr>
              <a:t>Observation:This</a:t>
            </a:r>
            <a:r>
              <a:rPr lang="en-US" sz="2400" b="1" dirty="0">
                <a:solidFill>
                  <a:schemeClr val="bg1"/>
                </a:solidFill>
              </a:rPr>
              <a:t> determines the most influential political party in each state based on seat count.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A19004-5195-F2AF-64F1-4FED3E606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1274190"/>
            <a:ext cx="6933236" cy="11628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C13FC9-5803-D1B5-2AB6-843F3AD34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2534855"/>
            <a:ext cx="6933236" cy="425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07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8060-326D-3CFA-21EB-00A8E9C3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BEB4E957-29C6-4D33-4206-44E52DBA28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D3EA2A-5740-8296-03C1-A91F24A2ABF8}"/>
              </a:ext>
            </a:extLst>
          </p:cNvPr>
          <p:cNvSpPr txBox="1">
            <a:spLocks/>
          </p:cNvSpPr>
          <p:nvPr/>
        </p:nvSpPr>
        <p:spPr>
          <a:xfrm>
            <a:off x="277792" y="66085"/>
            <a:ext cx="11540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Multi-Dimensional Election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A063B-805E-3D47-3C79-2F169A4221D8}"/>
              </a:ext>
            </a:extLst>
          </p:cNvPr>
          <p:cNvSpPr txBox="1">
            <a:spLocks/>
          </p:cNvSpPr>
          <p:nvPr/>
        </p:nvSpPr>
        <p:spPr>
          <a:xfrm>
            <a:off x="258128" y="847324"/>
            <a:ext cx="1154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Ranking constituencies by votes within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D187F3-D82D-A278-A017-54DC9679CCF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40233" y="2183380"/>
            <a:ext cx="32640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Observation: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This ranks constituencies by voter turnout, enabling intra-state comparison using window functions.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C903B6-8290-0322-6E64-4E6EB6F5B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900" y="1293854"/>
            <a:ext cx="6444064" cy="11628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D3112E-9678-0ECD-808E-17AC59B6AD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792" y="2534855"/>
            <a:ext cx="6782765" cy="425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52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6078-CDB4-9B84-7E05-E9C8CE40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726AC-12B8-54D9-F4B4-B86A6E990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6" descr="Abstract background of luminous dots">
            <a:extLst>
              <a:ext uri="{FF2B5EF4-FFF2-40B4-BE49-F238E27FC236}">
                <a16:creationId xmlns:a16="http://schemas.microsoft.com/office/drawing/2014/main" id="{10272B01-45F0-87BE-C62A-C232CF225ED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271"/>
            <a:ext cx="12192000" cy="689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6A5C9F-1B99-E637-D18B-4E8FDBE047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472" y="1137299"/>
            <a:ext cx="120415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The analysis provides a comprehensive view of election outcomes at constituency, party, and state levels using structured SQL queries.</a:t>
            </a:r>
          </a:p>
          <a:p>
            <a:endParaRPr lang="en-US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Party-wise and state-wise aggregations highlight overall political dominance and regional performance patterns.</a:t>
            </a:r>
          </a:p>
          <a:p>
            <a:endParaRPr lang="en-US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Margin-based and average-vote comparisons reveal the level of electoral competitiveness across constituencies.</a:t>
            </a:r>
          </a:p>
          <a:p>
            <a:endParaRPr lang="en-US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Identification of high-vote-share losing candidates uncovers closely contested elections and strong opposition presence.</a:t>
            </a:r>
          </a:p>
          <a:p>
            <a:endParaRPr lang="en-US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 Ranking and multi-dimensional queries demonstrate effective use of SQL for real-world analytical insights and decision support.</a:t>
            </a:r>
            <a:endParaRPr lang="en-IN" sz="24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CCAA4-BB82-01D6-E0DB-E038627C7D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615" y="305925"/>
            <a:ext cx="2452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Conclusion:</a:t>
            </a:r>
            <a:endParaRPr lang="en-IN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211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792</Words>
  <Application>Microsoft Office PowerPoint</Application>
  <PresentationFormat>Widescreen</PresentationFormat>
  <Paragraphs>98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Algerian</vt:lpstr>
      <vt:lpstr>Aptos</vt:lpstr>
      <vt:lpstr>Aptos Display</vt:lpstr>
      <vt:lpstr>Arial</vt:lpstr>
      <vt:lpstr>Arial Black</vt:lpstr>
      <vt:lpstr>Book Antiqua</vt:lpstr>
      <vt:lpstr>Britannic Bold</vt:lpstr>
      <vt:lpstr>Office Theme</vt:lpstr>
      <vt:lpstr>SQL PROJECT</vt:lpstr>
      <vt:lpstr>Project Overview</vt:lpstr>
      <vt:lpstr>PowerPoint Presentation</vt:lpstr>
      <vt:lpstr>TABLE STRUCTURE</vt:lpstr>
      <vt:lpstr>TABLE STRUCTURE</vt:lpstr>
      <vt:lpstr>TABLE STRUCTURE</vt:lpstr>
      <vt:lpstr>TABLE STRUCTURE</vt:lpstr>
      <vt:lpstr>TABLE STRUCTURE</vt:lpstr>
      <vt:lpstr>Analytical considerations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danish khan</dc:creator>
  <cp:lastModifiedBy>danish khan</cp:lastModifiedBy>
  <cp:revision>2</cp:revision>
  <dcterms:created xsi:type="dcterms:W3CDTF">2025-12-28T13:03:57Z</dcterms:created>
  <dcterms:modified xsi:type="dcterms:W3CDTF">2026-06-07T19:48:09Z</dcterms:modified>
</cp:coreProperties>
</file>